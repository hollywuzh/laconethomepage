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1" r:id="rId5"/>
    <p:sldId id="274" r:id="rId6"/>
    <p:sldId id="262" r:id="rId7"/>
    <p:sldId id="263" r:id="rId8"/>
    <p:sldId id="264" r:id="rId9"/>
    <p:sldId id="265" r:id="rId10"/>
    <p:sldId id="275" r:id="rId11"/>
    <p:sldId id="27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750" autoAdjust="0"/>
  </p:normalViewPr>
  <p:slideViewPr>
    <p:cSldViewPr snapToGrid="0">
      <p:cViewPr varScale="1">
        <p:scale>
          <a:sx n="107" d="100"/>
          <a:sy n="107" d="100"/>
        </p:scale>
        <p:origin x="2310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3090-62A9-531F-87A7-59A747B6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1E8EA-0A4E-D916-E07A-12CC8234C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66984-EA1B-B7B5-3A6A-B77F0C484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CD8E2-701F-343F-7F00-59DCACEA31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5342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80CEF-F728-5F77-B14D-4D468A45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47467-F0A2-2783-D502-F1064ADC5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9C66F-0389-95EF-9B41-EF98D3198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CE03E-133A-314A-4D8E-D4238C15F70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7288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EC2C68F-63C5-4730-9126-2A084159F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C414D26-BC1E-4848-AA99-C104F0CBE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9AA95BE-B3D4-4ABF-8D12-0493EE07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8ED5F27-059E-4048-A2A3-C066AAB1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538DD66-5B60-47C0-8314-01447F5CA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5EF3424-1D40-48FF-AB45-4507698E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90893A5-48AE-487C-9860-30BB06BFB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6B3FAA8-0D4F-4416-B60C-2134302D35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C91F8B7-0F84-4B05-8FE7-ED8ECBEDA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57B5891-A273-48D3-92DF-A0BEA3DE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9FF72E91-D373-4F17-8A64-2BEE80E7A4D1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B9D8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B9D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B9D8E5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  <a:endParaRPr sz="1875" b="0">
              <a:solidFill>
                <a:srgbClr val="B9D8E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22F2455-F45E-4218-9BE6-006184500434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733425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多任务无人机的</a:t>
            </a:r>
          </a:p>
          <a:p>
            <a: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时敏配送与在途感知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40DC394-FA1E-4CDB-B957-3BF4BA160ABE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70008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Delay-Sensitive Goods Delivery and In-Situ Sensing</a:t>
            </a:r>
          </a:p>
          <a:p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Using a Multi-Task Drone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F01DF55F-5A1A-4654-A72D-9222EE8639EA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Bin Liu 等 · IEEE TMC 24(10), 2025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268F5AA-E57B-46EB-973D-808E9EE79C04}"/>
              </a:ext>
            </a:extLst>
          </p:cNvPr>
          <p:cNvSpPr>
            <a:spLocks noGrp="1"/>
          </p:cNvSpPr>
          <p:nvPr/>
        </p:nvSpPr>
        <p:spPr>
          <a:xfrm>
            <a:off x="552450" y="5838825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B9D8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B9D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D8E5"/>
                </a:solidFill>
                <a:latin typeface="Microsoft YaHei"/>
                <a:ea typeface="Microsoft YaHei"/>
                <a:cs typeface="Microsoft YaHei"/>
              </a:rPr>
              <a:t>研究重点：有限时域 MDP 与阈值策略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D782FE-A2B9-4A4D-BE62-3B17D7C58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2193633"/>
            <a:ext cx="3524250" cy="16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24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4F1602E5-1820-46AB-9525-307B249FC48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任务场景</a:t>
            </a:r>
            <a:endParaRPr sz="1500" b="1">
              <a:solidFill>
                <a:srgbClr val="1766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8B306B0-93C6-424A-9B57-7A813F555566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同一架无人机同时承担配送与感知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93D1F66-4276-420D-B6CA-442B74EDEE77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5AC30B-0CEF-4CC2-ABA6-E61613998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3380" y="1304530"/>
            <a:ext cx="6924675" cy="3139835"/>
          </a:xfrm>
          <a:prstGeom prst="rect">
            <a:avLst/>
          </a:prstGeom>
        </p:spPr>
      </p:pic>
      <p:sp>
        <p:nvSpPr>
          <p:cNvPr id="6" name="text-4">
            <a:extLst>
              <a:ext uri="{FF2B5EF4-FFF2-40B4-BE49-F238E27FC236}">
                <a16:creationId xmlns:a16="http://schemas.microsoft.com/office/drawing/2014/main" id="{30A507F1-DFE2-423E-A88E-530CAA9938E9}"/>
              </a:ext>
            </a:extLst>
          </p:cNvPr>
          <p:cNvSpPr>
            <a:spLocks noGrp="1"/>
          </p:cNvSpPr>
          <p:nvPr/>
        </p:nvSpPr>
        <p:spPr>
          <a:xfrm>
            <a:off x="7644765" y="1352550"/>
            <a:ext cx="38766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必做任务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9DB095B5-23AA-47B6-BD91-081085D88434}"/>
              </a:ext>
            </a:extLst>
          </p:cNvPr>
          <p:cNvSpPr>
            <a:spLocks noGrp="1"/>
          </p:cNvSpPr>
          <p:nvPr/>
        </p:nvSpPr>
        <p:spPr>
          <a:xfrm>
            <a:off x="7644765" y="1800225"/>
            <a:ext cx="38766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携带货物沿固定航线配送</a:t>
            </a:r>
          </a:p>
          <a:p>
            <a: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必须在截止时间前到达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8F1E73A3-68C9-4BB6-8F7C-2504C5D865B6}"/>
              </a:ext>
            </a:extLst>
          </p:cNvPr>
          <p:cNvSpPr>
            <a:spLocks noGrp="1"/>
          </p:cNvSpPr>
          <p:nvPr/>
        </p:nvSpPr>
        <p:spPr>
          <a:xfrm>
            <a:off x="7644765" y="2905125"/>
            <a:ext cx="38766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可选任务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D955F228-8C95-4798-A182-17B8DAB3C71C}"/>
              </a:ext>
            </a:extLst>
          </p:cNvPr>
          <p:cNvSpPr>
            <a:spLocks noGrp="1"/>
          </p:cNvSpPr>
          <p:nvPr/>
        </p:nvSpPr>
        <p:spPr>
          <a:xfrm>
            <a:off x="7644765" y="3352800"/>
            <a:ext cx="38766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在沿途 POI 减速并感知</a:t>
            </a:r>
          </a:p>
          <a:p>
            <a: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获得按时长计算的奖励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FF788E0-B385-203E-30E3-1CA082117294}"/>
                  </a:ext>
                </a:extLst>
              </p:cNvPr>
              <p:cNvSpPr txBox="1"/>
              <p:nvPr/>
            </p:nvSpPr>
            <p:spPr>
              <a:xfrm>
                <a:off x="438150" y="4511069"/>
                <a:ext cx="10858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1800" b="0" i="0">
                    <a:solidFill>
                      <a:schemeClr val="tx1"/>
                    </a:solidFill>
                    <a:effectLst/>
                    <a:latin typeface="+mn-lt"/>
                  </a:rPr>
                  <a:t> 单架旋翼无人机沿长度为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zh-CN" sz="1800" b="0" i="0">
                    <a:solidFill>
                      <a:schemeClr val="tx1"/>
                    </a:solidFill>
                    <a:effectLst/>
                    <a:latin typeface="+mn-lt"/>
                  </a:rPr>
                  <a:t>的预定路线配送，期限为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sz="1800" b="0" i="0">
                    <a:solidFill>
                      <a:schemeClr val="tx1"/>
                    </a:solidFill>
                    <a:effectLst/>
                    <a:latin typeface="+mn-lt"/>
                  </a:rPr>
                  <a:t>，路线按街区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sz="1800" b="0" i="0">
                    <a:solidFill>
                      <a:schemeClr val="tx1"/>
                    </a:solidFill>
                    <a:effectLst/>
                    <a:latin typeface="+mn-lt"/>
                  </a:rPr>
                  <a:t>和长度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zh-CN" sz="1800" b="0" i="0">
                    <a:solidFill>
                      <a:schemeClr val="tx1"/>
                    </a:solidFill>
                    <a:effectLst/>
                    <a:latin typeface="+mn-lt"/>
                  </a:rPr>
                  <a:t>的距离网格离散。</a:t>
                </a:r>
                <a:endParaRPr lang="zh-CN" altLang="en-US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FF788E0-B385-203E-30E3-1CA082117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4511069"/>
                <a:ext cx="10858500" cy="369332"/>
              </a:xfrm>
              <a:prstGeom prst="rect">
                <a:avLst/>
              </a:prstGeom>
              <a:blipFill>
                <a:blip r:embed="rId4"/>
                <a:stretch>
                  <a:fillRect l="-56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E3EF23BA-34C0-13FA-3280-BE91F96B96AA}"/>
              </a:ext>
            </a:extLst>
          </p:cNvPr>
          <p:cNvSpPr txBox="1"/>
          <p:nvPr/>
        </p:nvSpPr>
        <p:spPr>
          <a:xfrm>
            <a:off x="373380" y="5297179"/>
            <a:ext cx="993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/>
              <a:t>论文想证明的核心是：</a:t>
            </a:r>
            <a:r>
              <a:rPr lang="zh-CN" altLang="zh-CN" b="1"/>
              <a:t>随着剩余距离增大，或已用时间增加，慢动作相对快动作会越来越不划算。一旦快动作成为最优，就不会在更大的配送压力下又切回慢动作。 因而，</a:t>
            </a:r>
            <a:r>
              <a:rPr lang="zh-CN" altLang="en-US" b="1"/>
              <a:t>不同</a:t>
            </a:r>
            <a:r>
              <a:rPr lang="zh-CN" altLang="zh-CN" b="1"/>
              <a:t>动作之间可以用一个阈值划分。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09809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39C9302F-2AE3-463F-B8EB-9BF7A91046E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问题建模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CCCF15B-591B-4335-8577-C0C3909D3AD6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目标函数与交付期限的实现方式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FEDDBB1A-980E-46FD-BCB6-5D4D5EF5BFF0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AD1B2B-6FB8-4303-BF7B-F4F8D6982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3860" y="1585384"/>
            <a:ext cx="7092875" cy="11718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F28925-B382-436E-B367-24ECF39C5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2829671"/>
            <a:ext cx="4953000" cy="719667"/>
          </a:xfrm>
          <a:prstGeom prst="rect">
            <a:avLst/>
          </a:prstGeom>
        </p:spPr>
      </p:pic>
      <p:sp>
        <p:nvSpPr>
          <p:cNvPr id="7" name="text-4">
            <a:extLst>
              <a:ext uri="{FF2B5EF4-FFF2-40B4-BE49-F238E27FC236}">
                <a16:creationId xmlns:a16="http://schemas.microsoft.com/office/drawing/2014/main" id="{E23F3846-8672-41E6-A1CE-DB4CB83532EF}"/>
              </a:ext>
            </a:extLst>
          </p:cNvPr>
          <p:cNvSpPr>
            <a:spLocks noGrp="1"/>
          </p:cNvSpPr>
          <p:nvPr/>
        </p:nvSpPr>
        <p:spPr>
          <a:xfrm>
            <a:off x="533400" y="1298046"/>
            <a:ext cx="7970972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累加各时隙成本</a:t>
            </a:r>
            <a:r>
              <a:rPr lang="zh-CN" altLang="en-US"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，再加上</a:t>
            </a:r>
            <a:r>
              <a: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终端罚</a:t>
            </a:r>
            <a:r>
              <a:rPr lang="zh-CN" altLang="en-US"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选择期望总成本最小的策略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12377CF-9539-4C1F-9B70-DF3CD54474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3145354"/>
              </p:ext>
            </p:extLst>
          </p:nvPr>
        </p:nvGraphicFramePr>
        <p:xfrm>
          <a:off x="7732619" y="1726141"/>
          <a:ext cx="4260476" cy="1695450"/>
        </p:xfrm>
        <a:graphic>
          <a:graphicData uri="http://schemas.openxmlformats.org/drawingml/2006/table">
            <a:tbl>
              <a:tblPr/>
              <a:tblGrid>
                <a:gridCol w="1390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6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</a:t>
                      </a:r>
                    </a:p>
                  </a:txBody>
                  <a:tcPr marL="95250" marR="95250" marT="38100" marB="38100" anchor="ctr">
                    <a:solidFill>
                      <a:srgbClr val="12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论文如何表达</a:t>
                      </a:r>
                    </a:p>
                  </a:txBody>
                  <a:tcPr marL="95250" marR="95250" marT="38100" marB="38100" anchor="ctr">
                    <a:solidFill>
                      <a:srgbClr val="123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配送优先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终端剩余距离惩罚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动作可行</a:t>
                      </a:r>
                    </a:p>
                  </a:txBody>
                  <a:tcPr marL="95250" marR="95250" marT="38100" marB="381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街区相关的可行动作集合</a:t>
                      </a:r>
                    </a:p>
                  </a:txBody>
                  <a:tcPr marL="95250" marR="95250" marT="38100" marB="38100" anchor="ctr"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时间与位置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固定路线，有限时域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到达保证</a:t>
                      </a:r>
                    </a:p>
                  </a:txBody>
                  <a:tcPr marL="95250" marR="95250" marT="38100" marB="381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惩</a:t>
                      </a:r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罚足够大，航程可达</a:t>
                      </a:r>
                    </a:p>
                  </a:txBody>
                  <a:tcPr marL="95250" marR="95250" marT="38100" marB="38100" anchor="ctr"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B84C342C-5D19-D558-FDD7-1A41ED5D75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8798555"/>
                  </p:ext>
                </p:extLst>
              </p:nvPr>
            </p:nvGraphicFramePr>
            <p:xfrm>
              <a:off x="403860" y="4157684"/>
              <a:ext cx="9587753" cy="222986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756696">
                      <a:extLst>
                        <a:ext uri="{9D8B030D-6E8A-4147-A177-3AD203B41FA5}">
                          <a16:colId xmlns:a16="http://schemas.microsoft.com/office/drawing/2014/main" val="3918314276"/>
                        </a:ext>
                      </a:extLst>
                    </a:gridCol>
                    <a:gridCol w="6831057">
                      <a:extLst>
                        <a:ext uri="{9D8B030D-6E8A-4147-A177-3AD203B41FA5}">
                          <a16:colId xmlns:a16="http://schemas.microsoft.com/office/drawing/2014/main" val="88974976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完整控制策略，规定每个时刻、每种状态下选什么动作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9947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CN" smtClean="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oMath>
                            </m:oMathPara>
                          </a14:m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所有可行策略的集合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80365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执行策略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zh-CN"/>
                            <a:t>后，时刻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zh-CN"/>
                            <a:t>的状态，包括剩余距离和当前街区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87817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策略根据当前状态选出的动作，例如全速、巡航或感知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67101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p>
                                    </m:sSubSup>
                                    <m:r>
                                      <a:rPr lang="en-US" altLang="zh-CN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当前时隙的净成本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5647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altLang="zh-CN" i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altLang="zh-CN" i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  <m:sup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时域结束后的终端罚成本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25593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B84C342C-5D19-D558-FDD7-1A41ED5D75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8798555"/>
                  </p:ext>
                </p:extLst>
              </p:nvPr>
            </p:nvGraphicFramePr>
            <p:xfrm>
              <a:off x="403860" y="4157684"/>
              <a:ext cx="9587753" cy="222986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756696">
                      <a:extLst>
                        <a:ext uri="{9D8B030D-6E8A-4147-A177-3AD203B41FA5}">
                          <a16:colId xmlns:a16="http://schemas.microsoft.com/office/drawing/2014/main" val="3918314276"/>
                        </a:ext>
                      </a:extLst>
                    </a:gridCol>
                    <a:gridCol w="6831057">
                      <a:extLst>
                        <a:ext uri="{9D8B030D-6E8A-4147-A177-3AD203B41FA5}">
                          <a16:colId xmlns:a16="http://schemas.microsoft.com/office/drawing/2014/main" val="88974976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1" t="-10000" r="-247903" b="-5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完整控制策略，规定每个时刻、每种状态下选什么动作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994738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1" t="-110000" r="-247903" b="-4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所有可行策略的集合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8036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1" t="-210000" r="-247903" b="-3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500" t="-210000" r="-178" b="-33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7817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1" t="-310000" r="-247903" b="-2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策略根据当前状态选出的动作，例如全速、巡航或感知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6710159"/>
                      </a:ext>
                    </a:extLst>
                  </a:tr>
                  <a:tr h="4010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1" t="-372727" r="-247903" b="-1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当前时隙的净成本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5647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1" t="-520000" r="-24790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/>
                            <a:t>时域结束后的终端罚成本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25593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0413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3FE86899-0EED-4341-BE03-70F2E5DBA8A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问题建模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FEBBCF13-4DCB-48D1-8516-3D5DB2D64854}"/>
              </a:ext>
            </a:extLst>
          </p:cNvPr>
          <p:cNvSpPr>
            <a:spLocks noGrp="1"/>
          </p:cNvSpPr>
          <p:nvPr/>
        </p:nvSpPr>
        <p:spPr>
          <a:xfrm>
            <a:off x="533399" y="1082624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Bellman</a:t>
            </a: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方程</a:t>
            </a:r>
            <a:r>
              <a:rPr lang="zh-CN" altLang="zh-CN" sz="3225" b="1">
                <a:solidFill>
                  <a:srgbClr val="12364B"/>
                </a:solidFill>
                <a:latin typeface="Microsoft YaHei"/>
              </a:rPr>
              <a:t>给出了每个动作的“完整成本”</a:t>
            </a:r>
            <a:endParaRPr sz="3225" b="1">
              <a:solidFill>
                <a:srgbClr val="12364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9CB925F-BC6D-488B-B3E3-10FD7892BCD1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9E1AF1-96C4-4F39-8442-0C5EAAC5C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4636" y="1611392"/>
            <a:ext cx="7174992" cy="838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B33DE06-0A56-4BBF-ADEA-58F9CDE62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399" y="2995434"/>
            <a:ext cx="6592443" cy="13620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4B8F6C4-F041-80D4-58D4-C14EC8323813}"/>
              </a:ext>
            </a:extLst>
          </p:cNvPr>
          <p:cNvSpPr txBox="1"/>
          <p:nvPr/>
        </p:nvSpPr>
        <p:spPr>
          <a:xfrm>
            <a:off x="333666" y="5629870"/>
            <a:ext cx="10726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/>
              <a:t>标准动态规划可以逐状态计算这些量。</a:t>
            </a:r>
          </a:p>
          <a:p>
            <a:pPr>
              <a:buNone/>
            </a:pPr>
            <a:r>
              <a:rPr lang="zh-CN" altLang="zh-CN" b="1"/>
              <a:t>作者</a:t>
            </a:r>
            <a:r>
              <a:rPr lang="zh-CN" altLang="en-US" b="1"/>
              <a:t>通过</a:t>
            </a:r>
            <a:r>
              <a:rPr lang="zh-CN" altLang="zh-CN" b="1"/>
              <a:t>证明 Bellman 方程具有单调性与</a:t>
            </a:r>
            <a:r>
              <a:rPr lang="zh-CN" altLang="en-US" b="1"/>
              <a:t>交叉性</a:t>
            </a:r>
            <a:r>
              <a:rPr lang="zh-CN" altLang="zh-CN" b="1"/>
              <a:t>，</a:t>
            </a:r>
            <a:r>
              <a:rPr lang="zh-CN" altLang="en-US" b="1"/>
              <a:t>构造了可</a:t>
            </a:r>
            <a:r>
              <a:rPr lang="zh-CN" altLang="zh-CN" b="1"/>
              <a:t>在线执行的阈值策略</a:t>
            </a:r>
            <a:r>
              <a:rPr lang="zh-CN" altLang="en-US" b="1"/>
              <a:t>。</a:t>
            </a:r>
            <a:r>
              <a:rPr lang="en-US" altLang="zh-CN" b="1"/>
              <a:t>希望利用结构减少搜索。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23D547F-51FC-B8D7-E909-A31A67DC17B5}"/>
                  </a:ext>
                </a:extLst>
              </p:cNvPr>
              <p:cNvSpPr txBox="1"/>
              <p:nvPr/>
            </p:nvSpPr>
            <p:spPr>
              <a:xfrm>
                <a:off x="533399" y="2394049"/>
                <a:ext cx="92637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/>
                  <a:t>：从当前状态开始，后续全部决策都采取最优动作时的最低</a:t>
                </a:r>
                <a:r>
                  <a:rPr lang="zh-CN" altLang="en-US"/>
                  <a:t>期望</a:t>
                </a:r>
                <a:r>
                  <a:rPr lang="zh-CN" altLang="zh-CN"/>
                  <a:t>总成本。</a:t>
                </a:r>
                <a:endParaRPr lang="zh-CN" altLang="en-US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23D547F-51FC-B8D7-E909-A31A67DC1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2394049"/>
                <a:ext cx="9263724" cy="369332"/>
              </a:xfrm>
              <a:prstGeom prst="rect">
                <a:avLst/>
              </a:prstGeom>
              <a:blipFill>
                <a:blip r:embed="rId5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AAE3B6-FB1E-9328-873E-3BAC4B15AD7F}"/>
                  </a:ext>
                </a:extLst>
              </p:cNvPr>
              <p:cNvSpPr txBox="1"/>
              <p:nvPr/>
            </p:nvSpPr>
            <p:spPr>
              <a:xfrm>
                <a:off x="590550" y="4357509"/>
                <a:ext cx="85093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zh-CN" altLang="zh-CN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zh-CN"/>
                  <a:t>：</a:t>
                </a:r>
                <a:r>
                  <a:rPr lang="zh-CN" altLang="en-US"/>
                  <a:t>当前指定动作的净成本</a:t>
                </a:r>
                <a:r>
                  <a:rPr lang="en-US" altLang="zh-CN"/>
                  <a:t>+</a:t>
                </a:r>
                <a:r>
                  <a:rPr lang="zh-CN" altLang="en-US"/>
                  <a:t>执行动作后的最优策略的成本</a:t>
                </a:r>
                <a:r>
                  <a:rPr lang="zh-CN" altLang="zh-CN"/>
                  <a:t>。</a:t>
                </a:r>
                <a:endParaRPr lang="zh-CN" altLang="en-US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AAE3B6-FB1E-9328-873E-3BAC4B15A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4357509"/>
                <a:ext cx="8509344" cy="369332"/>
              </a:xfrm>
              <a:prstGeom prst="rect">
                <a:avLst/>
              </a:prstGeom>
              <a:blipFill>
                <a:blip r:embed="rId6"/>
                <a:stretch>
                  <a:fillRect t="-11667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DB49D8D6-013F-D82A-58E8-8273C3E49268}"/>
              </a:ext>
            </a:extLst>
          </p:cNvPr>
          <p:cNvSpPr txBox="1"/>
          <p:nvPr/>
        </p:nvSpPr>
        <p:spPr>
          <a:xfrm>
            <a:off x="474636" y="454495"/>
            <a:ext cx="8980394" cy="588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</a:rPr>
              <a:t>如何将</a:t>
            </a:r>
            <a:r>
              <a:rPr lang="en-US" altLang="zh-CN" sz="3225" b="1">
                <a:solidFill>
                  <a:srgbClr val="12364B"/>
                </a:solidFill>
                <a:latin typeface="Microsoft YaHei"/>
                <a:ea typeface="Microsoft YaHei"/>
              </a:rPr>
              <a:t>总目标变成每个状态下的动作比较</a:t>
            </a: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9B2F71-A8F4-326A-442D-E74FC0DE47A0}"/>
              </a:ext>
            </a:extLst>
          </p:cNvPr>
          <p:cNvSpPr txBox="1"/>
          <p:nvPr/>
        </p:nvSpPr>
        <p:spPr>
          <a:xfrm>
            <a:off x="324903" y="4855190"/>
            <a:ext cx="11695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8829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altLang="zh-CN"/>
              <a:t>Bellman递推就是先计算各个可行动作的K，再取最小值，得到V。它解决的是当前动作和未来决策之间的联系。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80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CBBDF8CE-7E01-46DF-9F52-65BB43945F8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问题建模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E08DA7A-9418-4C11-8C24-66EBAEF94239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单调性与</a:t>
            </a: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交叉</a:t>
            </a: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性的证明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1AC5BB5-25A1-4FF6-8E06-C40B1604A112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05BBC7A2-4D45-48FB-BD57-58F5A57FF7FE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5276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单调性</a:t>
            </a:r>
            <a:r>
              <a:rPr lang="zh-CN" altLang="en-US" sz="21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（反向归纳）</a:t>
            </a:r>
            <a:endParaRPr sz="2100" b="1">
              <a:solidFill>
                <a:srgbClr val="1766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ADA946E-BBA3-4A71-B7F7-F6A29863DF20}"/>
              </a:ext>
            </a:extLst>
          </p:cNvPr>
          <p:cNvSpPr>
            <a:spLocks noGrp="1"/>
          </p:cNvSpPr>
          <p:nvPr/>
        </p:nvSpPr>
        <p:spPr>
          <a:xfrm>
            <a:off x="533400" y="2057400"/>
            <a:ext cx="5276850" cy="2028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终端：从随剩余距离非减的终端罚开始。</a:t>
            </a:r>
          </a:p>
          <a:p>
            <a:endParaRPr sz="1800" b="0">
              <a:solidFill>
                <a:srgbClr val="152B3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距离：下一时刻价值、即时成本与转移保序时，期望和取最小值仍保序。</a:t>
            </a:r>
          </a:p>
          <a:p>
            <a:endParaRPr sz="1800" b="0">
              <a:solidFill>
                <a:srgbClr val="152B3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时间：先由式(33)比较终端相邻时刻，再反向归纳。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6DCFED-E4E6-4B39-86EB-EDD3E1C1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900" y="4086225"/>
            <a:ext cx="5276850" cy="976425"/>
          </a:xfrm>
          <a:prstGeom prst="rect">
            <a:avLst/>
          </a:prstGeom>
        </p:spPr>
      </p:pic>
      <p:sp>
        <p:nvSpPr>
          <p:cNvPr id="8" name="text-6">
            <a:extLst>
              <a:ext uri="{FF2B5EF4-FFF2-40B4-BE49-F238E27FC236}">
                <a16:creationId xmlns:a16="http://schemas.microsoft.com/office/drawing/2014/main" id="{5718E34C-367D-49EC-BC4A-B4DFAC81A20F}"/>
              </a:ext>
            </a:extLst>
          </p:cNvPr>
          <p:cNvSpPr>
            <a:spLocks noGrp="1"/>
          </p:cNvSpPr>
          <p:nvPr/>
        </p:nvSpPr>
        <p:spPr>
          <a:xfrm>
            <a:off x="6381750" y="1571625"/>
            <a:ext cx="5276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动作成本的</a:t>
            </a:r>
            <a:r>
              <a:rPr lang="zh-CN" altLang="en-US" sz="21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交叉差</a:t>
            </a:r>
            <a:endParaRPr sz="2100" b="1">
              <a:solidFill>
                <a:srgbClr val="1766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26A2800E-08BE-488F-AFEA-E63408B3282B}"/>
              </a:ext>
            </a:extLst>
          </p:cNvPr>
          <p:cNvSpPr>
            <a:spLocks noGrp="1"/>
          </p:cNvSpPr>
          <p:nvPr/>
        </p:nvSpPr>
        <p:spPr>
          <a:xfrm>
            <a:off x="6381750" y="2038350"/>
            <a:ext cx="5276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>
                <a:solidFill>
                  <a:srgbClr val="152B37"/>
                </a:solidFill>
                <a:latin typeface="Microsoft YaHei"/>
                <a:ea typeface="Microsoft YaHei"/>
              </a:rPr>
              <a:t>证明两个动作的成本差具有单次交叉的性质</a:t>
            </a:r>
            <a:endParaRPr>
              <a:solidFill>
                <a:srgbClr val="152B37"/>
              </a:solidFill>
              <a:latin typeface="Microsoft YaHei"/>
              <a:ea typeface="Microsoft YaHe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2145F96-1DE0-4FAD-B050-44A4F96C6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2371028"/>
            <a:ext cx="5276850" cy="608867"/>
          </a:xfrm>
          <a:prstGeom prst="rect">
            <a:avLst/>
          </a:prstGeom>
        </p:spPr>
      </p:pic>
      <p:sp>
        <p:nvSpPr>
          <p:cNvPr id="11" name="text-8">
            <a:extLst>
              <a:ext uri="{FF2B5EF4-FFF2-40B4-BE49-F238E27FC236}">
                <a16:creationId xmlns:a16="http://schemas.microsoft.com/office/drawing/2014/main" id="{D4654667-1E5C-4B6A-8898-FF82970EFD77}"/>
              </a:ext>
            </a:extLst>
          </p:cNvPr>
          <p:cNvSpPr>
            <a:spLocks noGrp="1"/>
          </p:cNvSpPr>
          <p:nvPr/>
        </p:nvSpPr>
        <p:spPr>
          <a:xfrm>
            <a:off x="6381750" y="2862837"/>
            <a:ext cx="52768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固定街区</a:t>
            </a:r>
            <a:r>
              <a:rPr lang="zh-CN" altLang="en-US"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和时刻</a:t>
            </a:r>
            <a:r>
              <a: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，对两个距离状态下的动作成本差再作差。</a:t>
            </a:r>
          </a:p>
          <a:p>
            <a:pPr algn="l">
              <a:def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式(36)、(37)相减得(38)，当前成本差抵消，比较未来价值的有限增量。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C9BFEBE-0230-5B2A-85CD-9555E377494A}"/>
                  </a:ext>
                </a:extLst>
              </p:cNvPr>
              <p:cNvSpPr txBox="1"/>
              <p:nvPr/>
            </p:nvSpPr>
            <p:spPr>
              <a:xfrm>
                <a:off x="285750" y="5353050"/>
                <a:ext cx="58102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>
                    <a:solidFill>
                      <a:srgbClr val="152B37"/>
                    </a:solidFill>
                    <a:latin typeface="Microsoft YaHei"/>
                    <a:ea typeface="Microsoft YaHei"/>
                  </a:rPr>
                  <a:t>在相同剩余距离 </a:t>
                </a:r>
                <a14:m>
                  <m:oMath xmlns:m="http://schemas.openxmlformats.org/officeDocument/2006/math">
                    <m:r>
                      <a:rPr lang="zh-CN" altLang="zh-CN" i="1" smtClean="0">
                        <a:solidFill>
                          <a:srgbClr val="152B3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>
                    <a:solidFill>
                      <a:srgbClr val="152B37"/>
                    </a:solidFill>
                    <a:latin typeface="Microsoft YaHei"/>
                    <a:ea typeface="Microsoft YaHei"/>
                  </a:rPr>
                  <a:t> 下，最后一个可决策时刻 </a:t>
                </a:r>
                <a14:m>
                  <m:oMath xmlns:m="http://schemas.openxmlformats.org/officeDocument/2006/math">
                    <m:r>
                      <a:rPr lang="zh-CN" altLang="zh-CN" i="1" smtClean="0">
                        <a:solidFill>
                          <a:srgbClr val="152B3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>
                    <a:solidFill>
                      <a:srgbClr val="152B37"/>
                    </a:solidFill>
                    <a:latin typeface="Microsoft YaHei"/>
                    <a:ea typeface="Microsoft YaHei"/>
                  </a:rPr>
                  <a:t> 的最优成本，不超过终端时刻 </a:t>
                </a:r>
                <a14:m>
                  <m:oMath xmlns:m="http://schemas.openxmlformats.org/officeDocument/2006/math">
                    <m:r>
                      <a:rPr lang="zh-CN" altLang="zh-CN" i="1" smtClean="0">
                        <a:solidFill>
                          <a:srgbClr val="152B3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zh-CN" i="0">
                        <a:solidFill>
                          <a:srgbClr val="152B37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zh-CN">
                    <a:solidFill>
                      <a:srgbClr val="152B37"/>
                    </a:solidFill>
                    <a:latin typeface="Microsoft YaHei"/>
                    <a:ea typeface="Microsoft YaHei"/>
                  </a:rPr>
                  <a:t> 的</a:t>
                </a:r>
                <a:r>
                  <a:rPr lang="zh-CN" altLang="en-US">
                    <a:solidFill>
                      <a:srgbClr val="152B37"/>
                    </a:solidFill>
                    <a:latin typeface="Microsoft YaHei"/>
                    <a:ea typeface="Microsoft YaHei"/>
                  </a:rPr>
                  <a:t>惩</a:t>
                </a:r>
                <a:r>
                  <a:rPr lang="zh-CN" altLang="zh-CN">
                    <a:solidFill>
                      <a:srgbClr val="152B37"/>
                    </a:solidFill>
                    <a:latin typeface="Microsoft YaHei"/>
                    <a:ea typeface="Microsoft YaHei"/>
                  </a:rPr>
                  <a:t>罚成本。</a:t>
                </a:r>
                <a:endParaRPr lang="zh-CN" altLang="en-US">
                  <a:solidFill>
                    <a:srgbClr val="152B37"/>
                  </a:solidFill>
                  <a:latin typeface="Microsoft YaHei"/>
                  <a:ea typeface="Microsoft YaHei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C9BFEBE-0230-5B2A-85CD-9555E3774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5353050"/>
                <a:ext cx="5810250" cy="646331"/>
              </a:xfrm>
              <a:prstGeom prst="rect">
                <a:avLst/>
              </a:prstGeom>
              <a:blipFill>
                <a:blip r:embed="rId5"/>
                <a:stretch>
                  <a:fillRect l="-944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B3D5DC9C-5774-5F0E-CFAE-BCE350802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4353237"/>
            <a:ext cx="2704498" cy="246674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7C637BE-D187-F8F3-7518-AD6D5E81141D}"/>
              </a:ext>
            </a:extLst>
          </p:cNvPr>
          <p:cNvSpPr txBox="1"/>
          <p:nvPr/>
        </p:nvSpPr>
        <p:spPr>
          <a:xfrm>
            <a:off x="6284094" y="3943662"/>
            <a:ext cx="5565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52B37"/>
                </a:solidFill>
                <a:latin typeface="Microsoft YaHei"/>
                <a:ea typeface="Microsoft YaHei"/>
              </a:rPr>
              <a:t>作者希望利用这个比较说明动作优势只发生一次切换。</a:t>
            </a:r>
            <a:endParaRPr lang="zh-CN" altLang="en-US">
              <a:solidFill>
                <a:srgbClr val="152B37"/>
              </a:solidFill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3377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15FB0B0F-7560-46F6-B1C8-1F7B3D8315C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方法概述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E3C0F64-E5E3-45AF-8211-20A27DD3527B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时间与距离阈值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43602C9-B16C-4C2A-8B4B-BC178FAA0A93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27D5A7-2F37-4D3A-8028-F64B6E41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4514" y="1428155"/>
            <a:ext cx="6515633" cy="2552700"/>
          </a:xfrm>
          <a:prstGeom prst="rect">
            <a:avLst/>
          </a:prstGeom>
        </p:spPr>
      </p:pic>
      <p:sp>
        <p:nvSpPr>
          <p:cNvPr id="10" name="text-8">
            <a:extLst>
              <a:ext uri="{FF2B5EF4-FFF2-40B4-BE49-F238E27FC236}">
                <a16:creationId xmlns:a16="http://schemas.microsoft.com/office/drawing/2014/main" id="{F8757B2C-A360-41A3-B639-C57B1FAA6406}"/>
              </a:ext>
            </a:extLst>
          </p:cNvPr>
          <p:cNvSpPr>
            <a:spLocks noGrp="1"/>
          </p:cNvSpPr>
          <p:nvPr/>
        </p:nvSpPr>
        <p:spPr>
          <a:xfrm>
            <a:off x="464820" y="4180880"/>
            <a:ext cx="11125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左：无 POI，右：有 POI。蓝色：全速，黄色：巡航，红色：感知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A30FF5C-497D-41B1-AD0D-C248AEB99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3839" y="4657725"/>
            <a:ext cx="8008505" cy="154424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1758AC2-5DE3-FF05-C729-9091B33D249B}"/>
              </a:ext>
            </a:extLst>
          </p:cNvPr>
          <p:cNvSpPr txBox="1"/>
          <p:nvPr/>
        </p:nvSpPr>
        <p:spPr>
          <a:xfrm>
            <a:off x="7117079" y="1428155"/>
            <a:ext cx="48558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/>
              <a:t>Bellman 方程计算动作的当前与未来总成本，受支配动作筛选留下快慢取舍，再通过状态与动作的交叉差分性质证明相对成本单调。相对成本只能从偏好慢动作转向偏好快动作，所以最优动作集合形成连续区间，区间边界就是时间或距离阈值</a:t>
            </a:r>
            <a:r>
              <a:rPr lang="zh-CN" altLang="en-US" sz="2400"/>
              <a:t>。</a:t>
            </a:r>
            <a:endParaRPr lang="zh-CN" altLang="zh-CN" sz="2400"/>
          </a:p>
        </p:txBody>
      </p:sp>
    </p:spTree>
    <p:extLst>
      <p:ext uri="{BB962C8B-B14F-4D97-AF65-F5344CB8AC3E}">
        <p14:creationId xmlns:p14="http://schemas.microsoft.com/office/powerpoint/2010/main" val="98483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BAB7A250-05B5-4BD4-9A20-D21D7B8AC66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方法概述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9585247-533C-4ADA-B716-99D3B870AA2A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阈值生成、</a:t>
            </a: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动作选择</a:t>
            </a:r>
            <a:endParaRPr sz="3225" b="1">
              <a:solidFill>
                <a:srgbClr val="12364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C5BE60B-B37A-44A0-960A-DC6AFD4C70CC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46A1C00-8386-4044-9724-EDE257828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8534954"/>
              </p:ext>
            </p:extLst>
          </p:nvPr>
        </p:nvGraphicFramePr>
        <p:xfrm>
          <a:off x="533400" y="1371600"/>
          <a:ext cx="11125200" cy="2847975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lang="zh-CN" altLang="en-US"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  <a:endParaRPr sz="20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12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  <a:endParaRPr sz="20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12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5250" marR="95250" marT="76200" marB="76200" anchor="ctr">
                    <a:solidFill>
                      <a:srgbClr val="123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lang="zh-CN" altLang="zh-CN" sz="2400"/>
                        <a:t>Algorithm 1：基于阈值的动作选择</a:t>
                      </a:r>
                      <a:endParaRPr sz="20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/>
                        <a:t>当前应该全速、巡航，还是感知？</a:t>
                      </a:r>
                      <a:endParaRPr sz="20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/>
                        <a:t>当前动作</a:t>
                      </a:r>
                      <a:endParaRPr sz="20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lang="zh-CN" altLang="zh-CN" sz="2400"/>
                        <a:t>Algorithm 2：阈值生成</a:t>
                      </a:r>
                      <a:endParaRPr sz="20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/>
                        <a:t>在哪些时间、距离状态下，最优动作发生变化？</a:t>
                      </a:r>
                      <a:endParaRPr sz="20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/>
                        <a:t>时间阈值、距离阈值</a:t>
                      </a:r>
                      <a:endParaRPr sz="20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7A2E9BCA-AB21-4414-81DF-9758112C8B15}"/>
              </a:ext>
            </a:extLst>
          </p:cNvPr>
          <p:cNvSpPr>
            <a:spLocks noGrp="1"/>
          </p:cNvSpPr>
          <p:nvPr/>
        </p:nvSpPr>
        <p:spPr>
          <a:xfrm>
            <a:off x="533399" y="5449462"/>
            <a:ext cx="5476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标准 DP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2226E9AF-B5E4-4026-9434-B3AE03CDD97A}"/>
              </a:ext>
            </a:extLst>
          </p:cNvPr>
          <p:cNvSpPr>
            <a:spLocks noGrp="1"/>
          </p:cNvSpPr>
          <p:nvPr/>
        </p:nvSpPr>
        <p:spPr>
          <a:xfrm>
            <a:off x="533400" y="6000750"/>
            <a:ext cx="5476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逐时隙、逐距离状态遍历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4D8064F-9619-42A1-A5FF-4780AC365708}"/>
              </a:ext>
            </a:extLst>
          </p:cNvPr>
          <p:cNvSpPr>
            <a:spLocks noGrp="1"/>
          </p:cNvSpPr>
          <p:nvPr/>
        </p:nvSpPr>
        <p:spPr>
          <a:xfrm>
            <a:off x="6391275" y="5449462"/>
            <a:ext cx="53244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作者的阈值算法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953741E6-103A-4D5A-AA0A-F786742E679F}"/>
              </a:ext>
            </a:extLst>
          </p:cNvPr>
          <p:cNvSpPr>
            <a:spLocks noGrp="1"/>
          </p:cNvSpPr>
          <p:nvPr/>
        </p:nvSpPr>
        <p:spPr>
          <a:xfrm>
            <a:off x="6391275" y="6000750"/>
            <a:ext cx="53244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利用边界单调性减少扫描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11E309-CE9F-1D05-964E-F60F052BF1E8}"/>
              </a:ext>
            </a:extLst>
          </p:cNvPr>
          <p:cNvSpPr txBox="1"/>
          <p:nvPr/>
        </p:nvSpPr>
        <p:spPr>
          <a:xfrm>
            <a:off x="533399" y="4426596"/>
            <a:ext cx="1036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/>
              <a:t>算法 2 比较当前与未来成本，找出边界；算法 1 根据当前状态使用边界，执行动作。两者是同一套控制方法的两个环节。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866390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01722B01-7A50-4D52-AD65-2E96AD1B6A7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实验设置与结果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049E646-C1C8-46CB-B765-9A8EBFD95943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仿真平台、参数与基线设计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B790237-F768-46F7-8C63-8CA9D306A994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B48BF9E-B37E-4081-AF6E-9B4FF8B0A5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884299"/>
              </p:ext>
            </p:extLst>
          </p:nvPr>
        </p:nvGraphicFramePr>
        <p:xfrm>
          <a:off x="533400" y="1657350"/>
          <a:ext cx="5943600" cy="3667128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</a:t>
                      </a:r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12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</a:t>
                      </a:r>
                    </a:p>
                  </a:txBody>
                  <a:tcPr marL="95250" marR="95250" marT="76200" marB="76200" anchor="ctr">
                    <a:solidFill>
                      <a:srgbClr val="123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全速 10 / 巡航 6 / 感知 1 m/s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功率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5971.3 / 3879.16 / 3300 W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时隙</a:t>
                      </a:r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与距离</a:t>
                      </a:r>
                      <a:r>
                        <a:rPr lang="zh-CN" altLang="en-US"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网格</a:t>
                      </a:r>
                      <a:endParaRPr sz="17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s / 10 m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感知时长、POI 密度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指数分布均值 48 s / 0.4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单位奖励 μ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 3000 W，表 II 3500 W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F06C8A7-18B0-407C-9C1F-23A8E20096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266460"/>
              </p:ext>
            </p:extLst>
          </p:nvPr>
        </p:nvGraphicFramePr>
        <p:xfrm>
          <a:off x="6553200" y="1667827"/>
          <a:ext cx="4762500" cy="3071813"/>
        </p:xfrm>
        <a:graphic>
          <a:graphicData uri="http://schemas.openxmlformats.org/drawingml/2006/table">
            <a:tbl>
              <a:tblPr/>
              <a:tblGrid>
                <a:gridCol w="3033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95250" marR="95250" marT="76200" marB="76200" anchor="ctr">
                    <a:solidFill>
                      <a:srgbClr val="12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主要作用</a:t>
                      </a:r>
                    </a:p>
                  </a:txBody>
                  <a:tcPr marL="95250" marR="95250" marT="76200" marB="76200" anchor="ctr">
                    <a:solidFill>
                      <a:srgbClr val="123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DP 最优解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检验同一模型的最优性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62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MP-ILP</a:t>
                      </a:r>
                      <a:r>
                        <a:rPr lang="zh-CN" altLang="zh-C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联合速度/任务ILP</a:t>
                      </a:r>
                      <a:endParaRPr sz="17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GD-ACO</a:t>
                      </a:r>
                      <a:r>
                        <a:rPr lang="zh-CN" altLang="zh-C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贪心任务选择与蚁群路线</a:t>
                      </a:r>
                      <a:endParaRPr sz="17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</a:rPr>
                        <a:t>SGO-TS</a:t>
                      </a:r>
                      <a:r>
                        <a:rPr lang="zh-CN" altLang="zh-C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随机几何任务选择与速度调整</a:t>
                      </a:r>
                      <a:endParaRPr sz="17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</a:endParaRPr>
                    </a:p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</a:rPr>
                        <a:t>JSP-MIP</a:t>
                      </a:r>
                      <a:r>
                        <a:rPr lang="zh-CN" altLang="zh-CN" sz="18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联合任务/路线MIP</a:t>
                      </a:r>
                      <a:endParaRPr sz="1725" b="0">
                        <a:solidFill>
                          <a:srgbClr val="152B37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B37"/>
                          </a:solidFill>
                          <a:latin typeface="Microsoft YaHei"/>
                          <a:ea typeface="Microsoft YaHei"/>
                        </a:rPr>
                        <a:t>文献方法的扩展比较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-4">
            <a:extLst>
              <a:ext uri="{FF2B5EF4-FFF2-40B4-BE49-F238E27FC236}">
                <a16:creationId xmlns:a16="http://schemas.microsoft.com/office/drawing/2014/main" id="{D8431DC5-F69F-4939-A058-6472427D2809}"/>
              </a:ext>
            </a:extLst>
          </p:cNvPr>
          <p:cNvSpPr>
            <a:spLocks noGrp="1"/>
          </p:cNvSpPr>
          <p:nvPr/>
        </p:nvSpPr>
        <p:spPr>
          <a:xfrm>
            <a:off x="533400" y="562927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验证平台</a:t>
            </a:r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8589299A-7B34-44CC-8178-317FD03EEC00}"/>
              </a:ext>
            </a:extLst>
          </p:cNvPr>
          <p:cNvSpPr>
            <a:spLocks noGrp="1"/>
          </p:cNvSpPr>
          <p:nvPr/>
        </p:nvSpPr>
        <p:spPr>
          <a:xfrm>
            <a:off x="533399" y="6005512"/>
            <a:ext cx="73628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数值仿真 + CoppeliaSim</a:t>
            </a:r>
            <a:r>
              <a:rPr lang="en-US"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875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UTS 校园周边地图案例</a:t>
            </a:r>
          </a:p>
        </p:txBody>
      </p:sp>
    </p:spTree>
    <p:extLst>
      <p:ext uri="{BB962C8B-B14F-4D97-AF65-F5344CB8AC3E}">
        <p14:creationId xmlns:p14="http://schemas.microsoft.com/office/powerpoint/2010/main" val="2046925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BD9732B9-B18F-4A5D-8204-FBA9ADB9E5CD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实验设置与结果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1821280-5D73-4F71-A9B6-C8C831872AC9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同模型成本对照与</a:t>
            </a: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不同模型</a:t>
            </a: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能耗比较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B2E81CC-84EA-46C4-A9D4-79E06B44B5A5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368D63B-6AC8-4210-A9EC-DD5B31B98265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5010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阈值法与 DP 成本重合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E9DCB08E-68ED-4A37-96AB-F7A4F4711570}"/>
              </a:ext>
            </a:extLst>
          </p:cNvPr>
          <p:cNvSpPr>
            <a:spLocks noGrp="1"/>
          </p:cNvSpPr>
          <p:nvPr/>
        </p:nvSpPr>
        <p:spPr>
          <a:xfrm>
            <a:off x="6276975" y="1581150"/>
            <a:ext cx="53816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能耗随航程增加（期限 30 min）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278052-0034-44F1-AEFF-349BC92A0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344" y="2133600"/>
            <a:ext cx="4030187" cy="32670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CF6BF89-6D37-45A3-9ABD-AA5010A0A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78718" y="2066925"/>
            <a:ext cx="4282888" cy="3333750"/>
          </a:xfrm>
          <a:prstGeom prst="rect">
            <a:avLst/>
          </a:prstGeom>
        </p:spPr>
      </p:pic>
      <p:sp>
        <p:nvSpPr>
          <p:cNvPr id="9" name="text-6">
            <a:extLst>
              <a:ext uri="{FF2B5EF4-FFF2-40B4-BE49-F238E27FC236}">
                <a16:creationId xmlns:a16="http://schemas.microsoft.com/office/drawing/2014/main" id="{76855BA3-8C25-49CE-BAE1-8C19AEE49276}"/>
              </a:ext>
            </a:extLst>
          </p:cNvPr>
          <p:cNvSpPr>
            <a:spLocks noGrp="1"/>
          </p:cNvSpPr>
          <p:nvPr/>
        </p:nvSpPr>
        <p:spPr>
          <a:xfrm>
            <a:off x="533400" y="5690890"/>
            <a:ext cx="528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同模型成本一致，提供数值支持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513DFD-B58A-0332-9369-803CA68AB332}"/>
              </a:ext>
            </a:extLst>
          </p:cNvPr>
          <p:cNvSpPr txBox="1"/>
          <p:nvPr/>
        </p:nvSpPr>
        <p:spPr>
          <a:xfrm>
            <a:off x="5209018" y="5438775"/>
            <a:ext cx="70461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MIP-ILP</a:t>
            </a:r>
            <a:r>
              <a:rPr lang="zh-CN" altLang="en-US"/>
              <a:t>和</a:t>
            </a:r>
            <a:r>
              <a:rPr lang="en-US" altLang="zh-CN"/>
              <a:t>SGO-TS</a:t>
            </a:r>
            <a:r>
              <a:rPr lang="zh-CN" altLang="en-US"/>
              <a:t>倾向于高速飞行，能耗增长最陡峭</a:t>
            </a:r>
            <a:endParaRPr lang="en-US" altLang="zh-CN"/>
          </a:p>
          <a:p>
            <a:r>
              <a:rPr lang="en-US" altLang="zh-CN"/>
              <a:t>GD-ACO</a:t>
            </a:r>
            <a:r>
              <a:rPr lang="zh-CN" altLang="en-US"/>
              <a:t>和</a:t>
            </a:r>
            <a:r>
              <a:rPr lang="en-US" altLang="zh-CN"/>
              <a:t>JSP-MIP</a:t>
            </a:r>
            <a:r>
              <a:rPr lang="zh-CN" altLang="en-US"/>
              <a:t>优先节能，但限制了给定时间内的飞行距离</a:t>
            </a:r>
            <a:endParaRPr lang="en-US" altLang="zh-CN"/>
          </a:p>
          <a:p>
            <a:r>
              <a:rPr lang="zh-CN" altLang="en-US"/>
              <a:t>随着飞行距离增加，</a:t>
            </a:r>
            <a:r>
              <a:rPr lang="en-US" altLang="zh-CN"/>
              <a:t>GD-ACO</a:t>
            </a:r>
            <a:r>
              <a:rPr lang="zh-CN" altLang="en-US"/>
              <a:t>最先受到截止时间制约，飞行距离最短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8629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F00C7-8645-1E3E-A549-CE27704E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764F1C26-51CD-6352-55E7-EE6312E0F91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实验设置与结果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CA6A4DB-C151-63F3-9ED0-F0208007DBAB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准时交付优先于感知奖励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8F8EA07-E76C-13EF-D369-74A1E5D8EDB6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C5876EC2-CAA4-B667-425A-12BB96163579}"/>
              </a:ext>
            </a:extLst>
          </p:cNvPr>
          <p:cNvSpPr>
            <a:spLocks noGrp="1"/>
          </p:cNvSpPr>
          <p:nvPr/>
        </p:nvSpPr>
        <p:spPr>
          <a:xfrm>
            <a:off x="2619375" y="1298926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准时完成率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27C82D14-DAF4-70E7-ECC6-2829B46547ED}"/>
              </a:ext>
            </a:extLst>
          </p:cNvPr>
          <p:cNvSpPr>
            <a:spLocks noGrp="1"/>
          </p:cNvSpPr>
          <p:nvPr/>
        </p:nvSpPr>
        <p:spPr>
          <a:xfrm>
            <a:off x="8434171" y="28575"/>
            <a:ext cx="215517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归一化感知奖励</a:t>
            </a: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0EA676B6-D4DF-2310-E9F1-30C04092D7D8}"/>
              </a:ext>
            </a:extLst>
          </p:cNvPr>
          <p:cNvSpPr>
            <a:spLocks noGrp="1"/>
          </p:cNvSpPr>
          <p:nvPr/>
        </p:nvSpPr>
        <p:spPr>
          <a:xfrm>
            <a:off x="209550" y="5462587"/>
            <a:ext cx="111252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左图：</a:t>
            </a:r>
            <a:r>
              <a:rPr lang="zh-CN" altLang="en-US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只有算法</a:t>
            </a:r>
            <a:r>
              <a:rPr lang="en-US" altLang="zh-CN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zh-CN" altLang="en-US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能在</a:t>
            </a:r>
            <a:r>
              <a:rPr lang="en-US" altLang="zh-CN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18min</a:t>
            </a:r>
            <a:r>
              <a:rPr lang="zh-CN" altLang="en-US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内完成飞行，且在高</a:t>
            </a:r>
            <a:r>
              <a:rPr lang="en-US" altLang="zh-CN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poi</a:t>
            </a:r>
            <a:r>
              <a:rPr lang="zh-CN" altLang="en-US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密度下仍保持较高准时率</a:t>
            </a:r>
            <a:endParaRPr lang="en-US" altLang="zh-CN" sz="1650" b="0">
              <a:solidFill>
                <a:srgbClr val="152B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右图：算法</a:t>
            </a:r>
            <a:r>
              <a:rPr lang="en-US" altLang="zh-CN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zh-CN" altLang="en-US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让无人机在不影响及时交付的情况下执行原位感知。</a:t>
            </a:r>
            <a:endParaRPr lang="en-US" altLang="zh-CN" sz="1650">
              <a:solidFill>
                <a:srgbClr val="152B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相比之下，虽然</a:t>
            </a:r>
            <a:r>
              <a:rPr lang="en-US" altLang="zh-CN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MP-ILP</a:t>
            </a:r>
            <a:r>
              <a:rPr lang="zh-CN" altLang="en-US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GD-ACO</a:t>
            </a:r>
            <a:r>
              <a:rPr lang="zh-CN" altLang="en-US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尽可能的优先感知，</a:t>
            </a:r>
            <a:r>
              <a:rPr lang="zh-CN" altLang="en-US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但到达延迟更长。</a:t>
            </a:r>
            <a:endParaRPr lang="en-US" altLang="zh-CN" sz="1650" b="0">
              <a:solidFill>
                <a:srgbClr val="152B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而</a:t>
            </a:r>
            <a:r>
              <a:rPr lang="en-US" altLang="zh-CN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MP-ILP</a:t>
            </a:r>
            <a:r>
              <a:rPr lang="zh-CN" altLang="en-US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SGO-TS</a:t>
            </a:r>
            <a:r>
              <a:rPr lang="zh-CN" altLang="en-US"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要求无人机持续全速飞行</a:t>
            </a:r>
            <a:r>
              <a:rPr lang="zh-CN" altLang="en-US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以最小化时间，从而以更高的能耗为代价获得更到的完成率。</a:t>
            </a:r>
            <a:endParaRPr lang="en-US" altLang="zh-CN" sz="1650">
              <a:solidFill>
                <a:srgbClr val="152B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650" b="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152B37"/>
                </a:solidFill>
                <a:latin typeface="Microsoft YaHei"/>
                <a:ea typeface="Microsoft YaHei"/>
                <a:cs typeface="Microsoft YaHei"/>
              </a:rPr>
              <a:t>综合来看，论文提出的方法的综合效果更好。</a:t>
            </a:r>
            <a:endParaRPr sz="1650" b="0">
              <a:solidFill>
                <a:srgbClr val="152B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CCDF310-FCAA-911A-AC18-60A37414C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5065"/>
            <a:ext cx="3562533" cy="29211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62ED095-540A-D0D6-FEF0-EE1149B7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532" y="1772932"/>
            <a:ext cx="3617324" cy="294647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5042FBA-A046-F402-10ED-8504C494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523" y="412600"/>
            <a:ext cx="3346410" cy="286304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60F4CA0-02E7-37CF-2B95-4ECB7F7DA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523" y="3331277"/>
            <a:ext cx="3441877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44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C8EDF-3D40-431C-6399-B67B7946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107C1B4D-72A5-13A1-DB72-A99977942E9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实验设置与结果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852DE72-A62A-D17F-59C8-CE4C073FA5D4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不同载荷的影响</a:t>
            </a:r>
            <a:endParaRPr sz="3225" b="1">
              <a:solidFill>
                <a:srgbClr val="12364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6F7AAC-D8A0-49AB-4EBC-87829D242BAD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812FFF-FA46-C72F-CF40-401227EFA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7331"/>
            <a:ext cx="3357789" cy="28507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00841E-2E0A-4E68-A3DC-4FE73FB05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515" y="1405489"/>
            <a:ext cx="3133786" cy="274579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B9E5ED0-5C1A-AB85-EF20-347247AE4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055" y="739349"/>
            <a:ext cx="4556396" cy="334571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3A75F06-6F2B-941F-AB64-467BE196D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161" y="4069919"/>
            <a:ext cx="2371725" cy="15913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78C8EB4-42EA-FA7A-5D49-BF1BCFFE5C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6640" y="4085068"/>
            <a:ext cx="2527886" cy="1598276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151EA3C0-2D42-7AD1-F3B8-01E73B7574DC}"/>
              </a:ext>
            </a:extLst>
          </p:cNvPr>
          <p:cNvSpPr txBox="1"/>
          <p:nvPr/>
        </p:nvSpPr>
        <p:spPr>
          <a:xfrm>
            <a:off x="123825" y="4260662"/>
            <a:ext cx="61293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随着载荷上升，功耗也上升，导致执行感知任务数量减少。</a:t>
            </a:r>
            <a:endParaRPr lang="en-US" altLang="zh-CN"/>
          </a:p>
          <a:p>
            <a:r>
              <a:rPr lang="zh-CN" altLang="en-US"/>
              <a:t>当</a:t>
            </a:r>
            <a:r>
              <a:rPr lang="en-US" altLang="zh-CN"/>
              <a:t>T</a:t>
            </a:r>
            <a:r>
              <a:rPr lang="zh-CN" altLang="en-US"/>
              <a:t>缩短时，这一效应更加明显。</a:t>
            </a:r>
            <a:endParaRPr lang="en-US" altLang="zh-CN"/>
          </a:p>
          <a:p>
            <a:r>
              <a:rPr lang="zh-CN" altLang="en-US"/>
              <a:t>值得注意的是，载荷为</a:t>
            </a:r>
            <a:r>
              <a:rPr lang="en-US" altLang="zh-CN"/>
              <a:t>3kg</a:t>
            </a:r>
            <a:r>
              <a:rPr lang="zh-CN" altLang="en-US"/>
              <a:t>时，</a:t>
            </a:r>
            <a:r>
              <a:rPr lang="en-US" altLang="zh-CN"/>
              <a:t>T=26</a:t>
            </a:r>
            <a:r>
              <a:rPr lang="zh-CN" altLang="en-US"/>
              <a:t>，能耗相比于</a:t>
            </a:r>
            <a:r>
              <a:rPr lang="en-US" altLang="zh-CN"/>
              <a:t>T=24</a:t>
            </a:r>
          </a:p>
          <a:p>
            <a:r>
              <a:rPr lang="zh-CN" altLang="en-US"/>
              <a:t>的情况跟高。这是因为更宽松的时间约束，允许无人机</a:t>
            </a:r>
            <a:endParaRPr lang="en-US" altLang="zh-CN"/>
          </a:p>
          <a:p>
            <a:r>
              <a:rPr lang="zh-CN" altLang="en-US"/>
              <a:t>执行额外的感知任务，从而导致更大的能耗。任务的执行</a:t>
            </a:r>
            <a:endParaRPr lang="en-US" altLang="zh-CN"/>
          </a:p>
          <a:p>
            <a:r>
              <a:rPr lang="zh-CN" altLang="en-US"/>
              <a:t>也需要时间，无人机会更频繁选择高速飞行来补偿。</a:t>
            </a:r>
            <a:endParaRPr lang="en-US" altLang="zh-CN"/>
          </a:p>
        </p:txBody>
      </p:sp>
      <p:sp>
        <p:nvSpPr>
          <p:cNvPr id="31" name="text-1">
            <a:extLst>
              <a:ext uri="{FF2B5EF4-FFF2-40B4-BE49-F238E27FC236}">
                <a16:creationId xmlns:a16="http://schemas.microsoft.com/office/drawing/2014/main" id="{2AF65456-187E-02AF-C8D4-61A8D3B78CA3}"/>
              </a:ext>
            </a:extLst>
          </p:cNvPr>
          <p:cNvSpPr>
            <a:spLocks noGrp="1"/>
          </p:cNvSpPr>
          <p:nvPr/>
        </p:nvSpPr>
        <p:spPr>
          <a:xfrm>
            <a:off x="7902677" y="289351"/>
            <a:ext cx="3133786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校园案例</a:t>
            </a:r>
            <a:endParaRPr sz="3225" b="1">
              <a:solidFill>
                <a:srgbClr val="12364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2B6891-FDE6-7F22-689F-4B5AA62ED226}"/>
              </a:ext>
            </a:extLst>
          </p:cNvPr>
          <p:cNvSpPr txBox="1"/>
          <p:nvPr/>
        </p:nvSpPr>
        <p:spPr>
          <a:xfrm>
            <a:off x="5938840" y="568334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>
                <a:solidFill>
                  <a:schemeClr val="tx1"/>
                </a:solidFill>
                <a:effectLst/>
                <a:latin typeface="+mn-lt"/>
              </a:rPr>
              <a:t>本文</a:t>
            </a:r>
            <a:r>
              <a:rPr lang="zh-CN" altLang="zh-CN" sz="1800" b="0" i="0">
                <a:solidFill>
                  <a:schemeClr val="tx1"/>
                </a:solidFill>
                <a:effectLst/>
                <a:latin typeface="+mn-lt"/>
              </a:rPr>
              <a:t>算法及时配送、能耗862.15 Wh，奖励与MP-ILP相当；GD-ACO迟到，SGO-TS/JSP-MIP耗电更少但奖励也更少。它展示综合取舍，不代表提议方法在所有单项指标上最好。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3A1974-49E3-5DE2-43A9-C6607A671EDD}"/>
              </a:ext>
            </a:extLst>
          </p:cNvPr>
          <p:cNvSpPr txBox="1"/>
          <p:nvPr/>
        </p:nvSpPr>
        <p:spPr>
          <a:xfrm>
            <a:off x="822057" y="10486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/>
              <a:t>飞行距离为</a:t>
            </a:r>
            <a:r>
              <a:rPr lang="en-US" altLang="zh-CN" sz="1800"/>
              <a:t>M=7.5km</a:t>
            </a:r>
          </a:p>
        </p:txBody>
      </p:sp>
    </p:spTree>
    <p:extLst>
      <p:ext uri="{BB962C8B-B14F-4D97-AF65-F5344CB8AC3E}">
        <p14:creationId xmlns:p14="http://schemas.microsoft.com/office/powerpoint/2010/main" val="124759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CF24684B-8E9A-4D92-94C5-26AE9207679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689"/>
                </a:solidFill>
                <a:latin typeface="Microsoft YaHei"/>
                <a:ea typeface="Microsoft YaHei"/>
                <a:cs typeface="Microsoft YaHei"/>
              </a:rPr>
              <a:t>个人收获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11E54A0-7841-44DA-8E74-E1EF7492B8C2}"/>
              </a:ext>
            </a:extLst>
          </p:cNvPr>
          <p:cNvSpPr>
            <a:spLocks noGrp="1"/>
          </p:cNvSpPr>
          <p:nvPr/>
        </p:nvSpPr>
        <p:spPr>
          <a:xfrm>
            <a:off x="533400" y="809625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文章贡献与</a:t>
            </a:r>
            <a:r>
              <a: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可迁移</a:t>
            </a: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启发</a:t>
            </a:r>
            <a:endParaRPr sz="3225" b="1">
              <a:solidFill>
                <a:srgbClr val="12364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4DFF009-4290-4547-A924-FD250E801231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536875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200" b="0">
              <a:solidFill>
                <a:srgbClr val="5368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12B19F-38EC-C8C6-2C09-6F646B3C7EA5}"/>
              </a:ext>
            </a:extLst>
          </p:cNvPr>
          <p:cNvSpPr txBox="1"/>
          <p:nvPr/>
        </p:nvSpPr>
        <p:spPr>
          <a:xfrm>
            <a:off x="533400" y="1665831"/>
            <a:ext cx="10891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我从这篇文章学到的主要思路，是先把当前动作和未来配送压力放进同一个决策模型，再尝试分析最优动作的结构。如果动作优势随状态单调变化，就有机会用切换边界表示策略。在阈值已经生成、相关结构条件成立时，在线决策可以通过简单比较完成，这对计算资源有限的设备有吸引力。</a:t>
            </a:r>
          </a:p>
          <a:p>
            <a:r>
              <a:rPr lang="en-US" altLang="zh-CN"/>
              <a:t>可以借鉴建模方式。不过，加入计算队列、通信带宽或电池状态后，价值函数和动作交叉差都需要重新检查，不能直接照搬原来的阈值结论。</a:t>
            </a:r>
            <a:endParaRPr lang="zh-CN" altLang="zh-CN"/>
          </a:p>
        </p:txBody>
      </p:sp>
      <p:sp>
        <p:nvSpPr>
          <p:cNvPr id="14" name="text-1">
            <a:extLst>
              <a:ext uri="{FF2B5EF4-FFF2-40B4-BE49-F238E27FC236}">
                <a16:creationId xmlns:a16="http://schemas.microsoft.com/office/drawing/2014/main" id="{9B63CDB6-9A83-63A7-1DF9-C5D3FAACB55A}"/>
              </a:ext>
            </a:extLst>
          </p:cNvPr>
          <p:cNvSpPr>
            <a:spLocks noGrp="1"/>
          </p:cNvSpPr>
          <p:nvPr/>
        </p:nvSpPr>
        <p:spPr>
          <a:xfrm>
            <a:off x="533400" y="3253759"/>
            <a:ext cx="11125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>
                <a:solidFill>
                  <a:srgbClr val="12364B"/>
                </a:solidFill>
                <a:latin typeface="Microsoft YaHei"/>
                <a:ea typeface="Microsoft YaHei"/>
                <a:cs typeface="Microsoft YaHei"/>
              </a:rPr>
              <a:t>不足之处</a:t>
            </a:r>
            <a:endParaRPr sz="3225" b="1">
              <a:solidFill>
                <a:srgbClr val="12364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CDF546-A801-3103-FA54-6F2A73A277F2}"/>
              </a:ext>
            </a:extLst>
          </p:cNvPr>
          <p:cNvSpPr txBox="1"/>
          <p:nvPr/>
        </p:nvSpPr>
        <p:spPr>
          <a:xfrm>
            <a:off x="533400" y="3962310"/>
            <a:ext cx="6880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/>
              <a:t>天气、障碍检测、避碰、续航及细粒度飞行控制尚待处理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缺少电池预算约束，能耗最小化并不等于电池不会耗尽。</a:t>
            </a:r>
            <a:endParaRPr lang="en-US" altLang="zh-CN"/>
          </a:p>
          <a:p>
            <a:r>
              <a:rPr lang="zh-CN" altLang="zh-CN"/>
              <a:t>没有独立的模块消融、实机实验或显著性分析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单位不统一，</a:t>
            </a:r>
            <a:r>
              <a:rPr lang="zh-CN" altLang="zh-CN"/>
              <a:t>式(7)标能量J，奖励与罚金标Wh，式(4)却直接相减。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0C4483-CFE2-F5EA-94F0-671A22A95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36" y="5498237"/>
            <a:ext cx="4267732" cy="5501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6D474F-8D27-BC86-3C81-8A3981F06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883" y="5498237"/>
            <a:ext cx="4142452" cy="104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3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1636</Words>
  <Application>Microsoft Office PowerPoint</Application>
  <DocSecurity>0</DocSecurity>
  <PresentationFormat>宽屏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Aptos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嘉尔 肖</cp:lastModifiedBy>
  <cp:revision>13</cp:revision>
  <dcterms:created xsi:type="dcterms:W3CDTF">2026-10-08T13:02:08Z</dcterms:created>
  <dcterms:modified xsi:type="dcterms:W3CDTF">2026-10-10T08:48:39Z</dcterms:modified>
</cp:coreProperties>
</file>